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68" r:id="rId27"/>
    <p:sldId id="258" r:id="rId9"/>
    <p:sldId id="259" r:id="rId10"/>
    <p:sldId id="269" r:id="rId28"/>
    <p:sldId id="270" r:id="rId29"/>
    <p:sldId id="260" r:id="rId11"/>
    <p:sldId id="271" r:id="rId30"/>
    <p:sldId id="261" r:id="rId12"/>
    <p:sldId id="272" r:id="rId31"/>
    <p:sldId id="262" r:id="rId13"/>
    <p:sldId id="263" r:id="rId14"/>
    <p:sldId id="264" r:id="rId15"/>
    <p:sldId id="273" r:id="rId32"/>
    <p:sldId id="274" r:id="rId33"/>
    <p:sldId id="265" r:id="rId16"/>
    <p:sldId id="275" r:id="rId34"/>
    <p:sldId id="266" r:id="rId17"/>
    <p:sldId id="267" r:id="rId18"/>
  </p:sldIdLst>
  <p:sldSz cy="6858000" cx="12192000"/>
  <p:notesSz cx="6858000" cy="9144000"/>
  <p:embeddedFontLst>
    <p:embeddedFont>
      <p:font typeface="Roboto"/>
      <p:regular r:id="rId19"/>
      <p:bold r:id="rId20"/>
      <p:italic r:id="rId21"/>
      <p:boldItalic r:id="rId22"/>
    </p:embeddedFont>
    <p:embeddedFont>
      <p:font typeface="Merriweather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AE2472-D999-4382-AA12-8A4666BCE0D2}">
  <a:tblStyle styleId="{B7AE2472-D999-4382-AA12-8A4666BCE0D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font" Target="fonts/Roboto-regular.fntdata"/><Relationship Id="rId20" Type="http://schemas.openxmlformats.org/officeDocument/2006/relationships/font" Target="fonts/Roboto-bold.fntdata"/><Relationship Id="rId21" Type="http://schemas.openxmlformats.org/officeDocument/2006/relationships/font" Target="fonts/Roboto-italic.fntdata"/><Relationship Id="rId22" Type="http://schemas.openxmlformats.org/officeDocument/2006/relationships/font" Target="fonts/Roboto-boldItalic.fntdata"/><Relationship Id="rId23" Type="http://schemas.openxmlformats.org/officeDocument/2006/relationships/font" Target="fonts/Merriweather-regular.fntdata"/><Relationship Id="rId24" Type="http://schemas.openxmlformats.org/officeDocument/2006/relationships/font" Target="fonts/Merriweather-bold.fntdata"/><Relationship Id="rId25" Type="http://schemas.openxmlformats.org/officeDocument/2006/relationships/font" Target="fonts/Merriweather-italic.fntdata"/><Relationship Id="rId26" Type="http://schemas.openxmlformats.org/officeDocument/2006/relationships/font" Target="fonts/Merriweather-boldItalic.fntdata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975419"/>
            <a:ext cx="11049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1668809"/>
            <a:ext cx="11601450" cy="1924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Hadronic Top Quark Mass Reconstruction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859559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Using CMS OpenData &amp; NanoAOD Framework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4762500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Geraldine Lomeli Ponce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71500" y="5455890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May 22,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57725" y="2740074"/>
            <a:ext cx="6962775" cy="230162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57750" y="3694360"/>
            <a:ext cx="6562725" cy="95681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The Top Quark Decay Topology</a:t>
            </a:r>
            <a:endParaRPr/>
          </a:p>
        </p:txBody>
      </p:sp>
      <p:sp>
        <p:nvSpPr>
          <p:cNvPr id="98" name="Google Shape;98;p14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1676995"/>
            <a:ext cx="3890486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Single Lepton Channel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71500" y="2105620"/>
            <a:ext cx="3705225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We analyze the $t\bar{t}$ pair production where one top decays hadronically: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857750" y="3149649"/>
            <a:ext cx="6562725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Mass Reconstruction Target: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876300" y="3321605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952500" y="3320653"/>
            <a:ext cx="3324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Top Quark: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Decays nearly 100% to a $W$ boson and a $b$ quark.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76300" y="4134802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952500" y="4133850"/>
            <a:ext cx="3324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W Boson: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Decays to two light quarks ($u, d, s, c$).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76300" y="4947999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952500" y="4947046"/>
            <a:ext cx="3324225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The Signal: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1 Isolated Muon + Neutrino + 4 Jets (at least one being a b-jet).</a:t>
            </a:r>
            <a:endParaRPr/>
          </a:p>
        </p:txBody>
      </p:sp>
      <p:pic>
        <p:nvPicPr>
          <p:cNvPr descr="image.png" id="108" name="Google Shape;10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48250" y="3884860"/>
            <a:ext cx="6181725" cy="5758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926109"/>
            <a:ext cx="5334000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Dataset &amp; Computational Tools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571500" y="2744390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Source: CMS OpenData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6286500" y="2707034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The Data Science Stack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286500" y="4354859"/>
            <a:ext cx="53340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We use </a:t>
            </a:r>
            <a:r>
              <a:rPr b="0" i="1" lang="en-US" sz="13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Awkward Arrays</a:t>
            </a:r>
            <a:r>
              <a:rPr b="0" i="0" lang="en-US" sz="13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to handle the ragged data structure of particle collisions efficiently in Python.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876300" y="3116818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952500" y="3115865"/>
            <a:ext cx="4953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Format: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NanoAOD (Lightweight ROOT files).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76300" y="3594854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952500" y="3593901"/>
            <a:ext cx="4953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File: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0107961B-4308-F845-8F96-E14622BBA484.root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876300" y="4072890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952500" y="440628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Size: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1.8 GB / ~2.38 Million Events.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76300" y="4550925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952500" y="4713573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Era: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Run2016H-UL2016 (13 TeV).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2" name="Google Shape;13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Selecting Candidate Events</a:t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2403276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To reduce background from QCD and W+jets, we apply strict physics constraints:</a:t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571500" y="2947987"/>
            <a:ext cx="11049000" cy="1905000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7" name="Google Shape;137;p16"/>
          <p:cNvGraphicFramePr/>
          <p:nvPr/>
        </p:nvGraphicFramePr>
        <p:xfrm>
          <a:off x="571500" y="29479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{B7AE2472-D999-4382-AA12-8A4666BCE0D2}</a:tableStyleId>
              </a:tblPr>
              <a:tblGrid>
                <a:gridCol w="1682350"/>
                <a:gridCol w="5014900"/>
                <a:gridCol w="4351725"/>
              </a:tblGrid>
              <a:tr h="47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Object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Selection Criteria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Physics Goal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Muon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$p_T &gt; 25$ GeV, $| \eta | &lt; 2.4$, Tight ID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Clean Leptonic Trigger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Jets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$p_T &gt; 30$ GeV, Count $\ge 4$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Capture Hadronic Decay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B-Tagging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DeepCSV Score $&gt; 0.6321$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F3F0D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Identify Top's heavy bottom-quark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8" name="Google Shape;138;p16"/>
          <p:cNvSpPr txBox="1"/>
          <p:nvPr/>
        </p:nvSpPr>
        <p:spPr>
          <a:xfrm>
            <a:off x="571500" y="5043487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11CAA0"/>
                </a:solidFill>
                <a:latin typeface="Roboto"/>
                <a:ea typeface="Roboto"/>
                <a:cs typeface="Roboto"/>
                <a:sym typeface="Roboto"/>
              </a:rPr>
              <a:t>Efficiency:</a:t>
            </a:r>
            <a:r>
              <a:rPr b="0" i="0" lang="en-US" sz="1650" u="none" cap="none" strike="noStrike">
                <a:solidFill>
                  <a:srgbClr val="11CAA0"/>
                </a:solidFill>
                <a:latin typeface="Roboto"/>
                <a:ea typeface="Roboto"/>
                <a:cs typeface="Roboto"/>
                <a:sym typeface="Roboto"/>
              </a:rPr>
              <a:t> 78,652 events pass the initial $t\bar{t}$ topology mask.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3" name="Google Shape;14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3414712"/>
            <a:ext cx="53340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Solving the Combinatorics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571500" y="2337792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Jet Assignments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2766417"/>
            <a:ext cx="5334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In a 4-jet event, how do we know which jet is which?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876300" y="3312080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952500" y="3311128"/>
            <a:ext cx="4953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We utilize </a:t>
            </a: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DeepCSV b-tagging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to separate "heavy" jets (from Top) from "light" jets (from W).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876300" y="4125277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952500" y="4124325"/>
            <a:ext cx="4953000" cy="6893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We split the filtered jets into two groups: b_jets and light_jets.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876300" y="4957524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952500" y="4956571"/>
            <a:ext cx="4953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Requirement: At least 1 b-jet and 2 light jets per event.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9" name="Google Shape;15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565201"/>
            <a:ext cx="11049000" cy="16990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4454723"/>
            <a:ext cx="11049000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Reconstructing the W-Boson</a:t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 txBox="1"/>
          <p:nvPr/>
        </p:nvSpPr>
        <p:spPr>
          <a:xfrm>
            <a:off x="571500" y="1829990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The W-boson is the intermediate step. We iterate through all possible light jet pairs: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571500" y="5616773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This significantly reduces combinatorial noise before calculating the final top mass.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771525" y="2974776"/>
            <a:ext cx="106489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Algorithm: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argmin($| m_{j_1 j_2} - 80.4 $ GeV $|$)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771525" y="3519487"/>
            <a:ext cx="106489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We pick the pair of light jets whose invariant mass is closest to the physical W boson mass.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2" name="Google Shape;17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9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Top Mass: Initial Reconstruction</a:t>
            </a:r>
            <a:endParaRPr/>
          </a:p>
        </p:txBody>
      </p:sp>
      <p:sp>
        <p:nvSpPr>
          <p:cNvPr id="174" name="Google Shape;174;p19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 txBox="1"/>
          <p:nvPr/>
        </p:nvSpPr>
        <p:spPr>
          <a:xfrm>
            <a:off x="6286500" y="2347317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Observation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6286500" y="2775942"/>
            <a:ext cx="5334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The first attempt combines the W-candidate with the leading b-jet.</a:t>
            </a:r>
            <a:endParaRPr/>
          </a:p>
        </p:txBody>
      </p:sp>
      <p:sp>
        <p:nvSpPr>
          <p:cNvPr id="177" name="Google Shape;177;p19"/>
          <p:cNvSpPr txBox="1"/>
          <p:nvPr/>
        </p:nvSpPr>
        <p:spPr>
          <a:xfrm>
            <a:off x="6591300" y="3656766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6667500" y="3655814"/>
            <a:ext cx="4953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Calculated Mass: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169.96 GeV.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6591300" y="4134802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6667500" y="4133850"/>
            <a:ext cx="4953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Issue: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High combinatorial background (shaded area).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591300" y="4612838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667500" y="4611885"/>
            <a:ext cx="4953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Constraint: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The model includes a quadratic background fit + Gaussian signal.</a:t>
            </a:r>
            <a:endParaRPr/>
          </a:p>
        </p:txBody>
      </p:sp>
      <p:pic>
        <p:nvPicPr>
          <p:cNvPr id="183" name="Google Shape;183;p19" title="had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875" y="1769600"/>
            <a:ext cx="5803650" cy="438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3319313"/>
            <a:ext cx="5334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320355"/>
            <a:ext cx="5334000" cy="136014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Refining with W-Mass Constraint</a:t>
            </a:r>
            <a:endParaRPr/>
          </a:p>
        </p:txBody>
      </p:sp>
      <p:sp>
        <p:nvSpPr>
          <p:cNvPr id="192" name="Google Shape;192;p20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571500" y="2011858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Signal Cleaning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2440483"/>
            <a:ext cx="5334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To produce a higher-purity sample, we apply a "W-Mass Window" cut: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571500" y="4890045"/>
            <a:ext cx="5334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This ensures we only reconstruct tops from events where the algorithm successfully found a realistic W-boson.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771525" y="3787080"/>
            <a:ext cx="493395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$65 &lt; M_W &lt; 95$ GeV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1" name="Google Shape;20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Final Reconstruction Value</a:t>
            </a:r>
            <a:endParaRPr/>
          </a:p>
        </p:txBody>
      </p:sp>
      <p:sp>
        <p:nvSpPr>
          <p:cNvPr id="203" name="Google Shape;203;p21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>
            <a:off x="6286500" y="2815828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Improved Signal Fit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6591300" y="3188255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06" name="Google Shape;206;p21"/>
          <p:cNvSpPr txBox="1"/>
          <p:nvPr/>
        </p:nvSpPr>
        <p:spPr>
          <a:xfrm>
            <a:off x="6667500" y="3187303"/>
            <a:ext cx="4953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Calculated Mass: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163.33 GeV.</a:t>
            </a:r>
            <a:endParaRPr/>
          </a:p>
        </p:txBody>
      </p:sp>
      <p:sp>
        <p:nvSpPr>
          <p:cNvPr id="207" name="Google Shape;207;p21"/>
          <p:cNvSpPr txBox="1"/>
          <p:nvPr/>
        </p:nvSpPr>
        <p:spPr>
          <a:xfrm>
            <a:off x="6591300" y="3666291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08" name="Google Shape;208;p21"/>
          <p:cNvSpPr txBox="1"/>
          <p:nvPr/>
        </p:nvSpPr>
        <p:spPr>
          <a:xfrm>
            <a:off x="6667500" y="3665339"/>
            <a:ext cx="4953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Uncertainty: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± 1.50 GeV (Stat).</a:t>
            </a:r>
            <a:endParaRPr/>
          </a:p>
        </p:txBody>
      </p:sp>
      <p:sp>
        <p:nvSpPr>
          <p:cNvPr id="209" name="Google Shape;209;p21"/>
          <p:cNvSpPr txBox="1"/>
          <p:nvPr/>
        </p:nvSpPr>
        <p:spPr>
          <a:xfrm>
            <a:off x="6591300" y="4144327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6667500" y="4143375"/>
            <a:ext cx="4953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Result: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Applying the W-constraint shifted the peak towards the left but sharpened the Gaussian signal.</a:t>
            </a:r>
            <a:endParaRPr/>
          </a:p>
        </p:txBody>
      </p:sp>
      <p:pic>
        <p:nvPicPr>
          <p:cNvPr id="211" name="Google Shape;211;p21" title="had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275" y="1799450"/>
            <a:ext cx="5533601" cy="418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6" name="Google Shape;2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022401"/>
            <a:ext cx="5334000" cy="173712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2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Discussion &amp; Physics Analysis</a:t>
            </a:r>
            <a:endParaRPr/>
          </a:p>
        </p:txBody>
      </p:sp>
      <p:sp>
        <p:nvSpPr>
          <p:cNvPr id="219" name="Google Shape;219;p22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2"/>
          <p:cNvSpPr txBox="1"/>
          <p:nvPr/>
        </p:nvSpPr>
        <p:spPr>
          <a:xfrm>
            <a:off x="771525" y="3222426"/>
            <a:ext cx="518064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Experimental vs. Theoretical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6286500" y="2480667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Why the discrepancy?</a:t>
            </a:r>
            <a:endParaRPr/>
          </a:p>
        </p:txBody>
      </p:sp>
      <p:sp>
        <p:nvSpPr>
          <p:cNvPr id="222" name="Google Shape;222;p22"/>
          <p:cNvSpPr txBox="1"/>
          <p:nvPr/>
        </p:nvSpPr>
        <p:spPr>
          <a:xfrm>
            <a:off x="1076325" y="3594854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23" name="Google Shape;223;p22"/>
          <p:cNvSpPr txBox="1"/>
          <p:nvPr/>
        </p:nvSpPr>
        <p:spPr>
          <a:xfrm>
            <a:off x="1152525" y="3593901"/>
            <a:ext cx="45529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My Result: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163.33 ± 1.50 GeV</a:t>
            </a:r>
            <a:endParaRPr/>
          </a:p>
        </p:txBody>
      </p:sp>
      <p:sp>
        <p:nvSpPr>
          <p:cNvPr id="224" name="Google Shape;224;p22"/>
          <p:cNvSpPr txBox="1"/>
          <p:nvPr/>
        </p:nvSpPr>
        <p:spPr>
          <a:xfrm>
            <a:off x="1076325" y="4072890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25" name="Google Shape;225;p22"/>
          <p:cNvSpPr txBox="1"/>
          <p:nvPr/>
        </p:nvSpPr>
        <p:spPr>
          <a:xfrm>
            <a:off x="1152525" y="4071937"/>
            <a:ext cx="455295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PDG Value: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172.57 ± 0.29 GeV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6591300" y="2853094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27" name="Google Shape;227;p22"/>
          <p:cNvSpPr txBox="1"/>
          <p:nvPr/>
        </p:nvSpPr>
        <p:spPr>
          <a:xfrm>
            <a:off x="6667500" y="2852142"/>
            <a:ext cx="4953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Jet Energy Corrections (JEC):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Not applied in this simple NanoAOD script. Energy is underestimated.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6591300" y="3666291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29" name="Google Shape;229;p22"/>
          <p:cNvSpPr txBox="1"/>
          <p:nvPr/>
        </p:nvSpPr>
        <p:spPr>
          <a:xfrm>
            <a:off x="6667500" y="3665339"/>
            <a:ext cx="4953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Background Contamination: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W+jets and single-top production still present.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6591300" y="4479488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6667500" y="4478535"/>
            <a:ext cx="4953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Missing Neutrino: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Missing transverse energy (MET) not accounted for in this hadronic-only calculation.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6" name="Google Shape;23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3"/>
          <p:cNvSpPr txBox="1"/>
          <p:nvPr/>
        </p:nvSpPr>
        <p:spPr>
          <a:xfrm>
            <a:off x="571500" y="571500"/>
            <a:ext cx="11601450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Conclusions</a:t>
            </a:r>
            <a:endParaRPr/>
          </a:p>
        </p:txBody>
      </p:sp>
      <p:sp>
        <p:nvSpPr>
          <p:cNvPr id="238" name="Google Shape;238;p2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3"/>
          <p:cNvSpPr txBox="1"/>
          <p:nvPr/>
        </p:nvSpPr>
        <p:spPr>
          <a:xfrm>
            <a:off x="876300" y="2768262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40" name="Google Shape;240;p23"/>
          <p:cNvSpPr txBox="1"/>
          <p:nvPr/>
        </p:nvSpPr>
        <p:spPr>
          <a:xfrm>
            <a:off x="952500" y="2767310"/>
            <a:ext cx="10668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Successfully implemented an </a:t>
            </a: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event filtering pipeline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using Awkward Arrays and Vector.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876300" y="3246298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42" name="Google Shape;242;p23"/>
          <p:cNvSpPr txBox="1"/>
          <p:nvPr/>
        </p:nvSpPr>
        <p:spPr>
          <a:xfrm>
            <a:off x="952500" y="3245346"/>
            <a:ext cx="10668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Applied </a:t>
            </a: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ML-based b-tagging scores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to solve the hadronic jet assignment problem.</a:t>
            </a:r>
            <a:endParaRPr/>
          </a:p>
        </p:txBody>
      </p:sp>
      <p:sp>
        <p:nvSpPr>
          <p:cNvPr id="243" name="Google Shape;243;p23"/>
          <p:cNvSpPr txBox="1"/>
          <p:nvPr/>
        </p:nvSpPr>
        <p:spPr>
          <a:xfrm>
            <a:off x="876300" y="3724334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44" name="Google Shape;244;p23"/>
          <p:cNvSpPr txBox="1"/>
          <p:nvPr/>
        </p:nvSpPr>
        <p:spPr>
          <a:xfrm>
            <a:off x="952500" y="3723382"/>
            <a:ext cx="106680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Determined that a </a:t>
            </a:r>
            <a:r>
              <a:rPr b="1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W-boson mass constraint</a:t>
            </a: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 significantly improves the Gaussian fit for the top quark signal.</a:t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876300" y="4202370"/>
            <a:ext cx="762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▪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952500" y="4201417"/>
            <a:ext cx="10668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Future work would involve 4-momentum corrections (JEC) and cross-validation with the Monte Carlo simulation files.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1" name="Google Shape;25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2" name="Google Shape;25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14725" y="4010025"/>
            <a:ext cx="5162550" cy="744735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3385661" y="1893689"/>
            <a:ext cx="542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Thank you for your attention</a:t>
            </a:r>
            <a:endParaRPr b="1" sz="7500">
              <a:solidFill>
                <a:srgbClr val="11CAA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3514725" y="3293864"/>
            <a:ext cx="5162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4"/>
          <p:cNvSpPr txBox="1"/>
          <p:nvPr/>
        </p:nvSpPr>
        <p:spPr>
          <a:xfrm>
            <a:off x="3514725" y="4419600"/>
            <a:ext cx="5162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3F0DF"/>
                </a:solidFill>
                <a:latin typeface="Roboto"/>
                <a:ea typeface="Roboto"/>
                <a:cs typeface="Roboto"/>
                <a:sym typeface="Roboto"/>
              </a:rPr>
              <a:t>Geraldine Lomeli Ponce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The Semileptonic tt̅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450000"/>
            <a:ext cx="1105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Two gluons fuse to a top–antitop pair; each top decays t → b W.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Hadronic top:  </a:t>
            </a:r>
            <a:r>
              <a:rPr sz="1550">
                <a:solidFill>
                  <a:srgbClr val="F3F0DF"/>
                </a:solidFill>
                <a:latin typeface="Roboto"/>
              </a:rPr>
              <a:t>W → q q̄′  →  the three jets we fit as m(bjj).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Leptonic top:  </a:t>
            </a:r>
            <a:r>
              <a:rPr sz="1550">
                <a:solidFill>
                  <a:srgbClr val="F3F0DF"/>
                </a:solidFill>
                <a:latin typeface="Roboto"/>
              </a:rPr>
              <a:t>W → μ ν  →  the isolated muon + missing energy (MET).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Why one muon:  </a:t>
            </a:r>
            <a:r>
              <a:rPr sz="1550">
                <a:solidFill>
                  <a:srgbClr val="F3F0DF"/>
                </a:solidFill>
                <a:latin typeface="Roboto"/>
              </a:rPr>
              <a:t>it tags and triggers the event; the hadronic side gives the mass.</a:t>
            </a:r>
          </a:p>
        </p:txBody>
      </p:sp>
      <p:pic>
        <p:nvPicPr>
          <p:cNvPr id="6" name="Picture 5" descr="feynman_ttbar_semilepton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000" y="2980000"/>
            <a:ext cx="5100000" cy="373937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Uncertainty on Each Measured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450000"/>
            <a:ext cx="1105000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A reconstructed mass is only as good as the four-vectors that build it.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Muon pT:  </a:t>
            </a:r>
            <a:r>
              <a:rPr sz="1550">
                <a:solidFill>
                  <a:srgbClr val="F3F0DF"/>
                </a:solidFill>
                <a:latin typeface="Roboto"/>
              </a:rPr>
              <a:t>stored per muon (Muon_ptErr) — tiny, median ~1.4%.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MET:  </a:t>
            </a:r>
            <a:r>
              <a:rPr sz="1550">
                <a:solidFill>
                  <a:srgbClr val="F3F0DF"/>
                </a:solidFill>
                <a:latin typeface="Roboto"/>
              </a:rPr>
              <a:t>stored per event (MET_significance, MET_covXX/XY/YY).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Jet energy SCALE:  </a:t>
            </a:r>
            <a:r>
              <a:rPr sz="1550">
                <a:solidFill>
                  <a:srgbClr val="F3F0DF"/>
                </a:solidFill>
                <a:latin typeface="Roboto"/>
              </a:rPr>
              <a:t>NOT per-object — an external JES systematic (~2–3%).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Jet energy RESOLUTION:  </a:t>
            </a:r>
            <a:r>
              <a:rPr sz="1550">
                <a:solidFill>
                  <a:srgbClr val="F3F0DF"/>
                </a:solidFill>
                <a:latin typeface="Roboto"/>
              </a:rPr>
              <a:t>per jet (Jet_bRegRes) — ~11% for b-jets, ~8× the muon.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Consequence:  </a:t>
            </a:r>
            <a:r>
              <a:rPr sz="1550">
                <a:solidFill>
                  <a:srgbClr val="F3F0DF"/>
                </a:solidFill>
                <a:latin typeface="Roboto"/>
              </a:rPr>
              <a:t>the 3-jet top width is jet-dominated; uncorrected jets read low → mass low.</a:t>
            </a:r>
          </a:p>
        </p:txBody>
      </p:sp>
      <p:pic>
        <p:nvPicPr>
          <p:cNvPr id="6" name="Picture 5" descr="uncertain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00" y="3720000"/>
            <a:ext cx="10900000" cy="29278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Backgrounds, and How Each Cut Suppresses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480000"/>
            <a:ext cx="1105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No MC is available to subtract; we suppress backgrounds with the selection.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QCD multijet:  </a:t>
            </a:r>
            <a:r>
              <a:rPr sz="1550">
                <a:solidFill>
                  <a:srgbClr val="F3F0DF"/>
                </a:solidFill>
                <a:latin typeface="Roboto"/>
              </a:rPr>
              <a:t>fake isolated muon from heavy-flavour decay → killed by tight muon, pT&gt;25.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W+jets:  </a:t>
            </a:r>
            <a:r>
              <a:rPr sz="1550">
                <a:solidFill>
                  <a:srgbClr val="F3F0DF"/>
                </a:solidFill>
                <a:latin typeface="Roboto"/>
              </a:rPr>
              <a:t>real μν + jets → suppressed by requiring ≥4 jets AND a b-tag.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Z+jets (Drell–Yan):  </a:t>
            </a:r>
            <a:r>
              <a:rPr sz="1550">
                <a:solidFill>
                  <a:srgbClr val="F3F0DF"/>
                </a:solidFill>
                <a:latin typeface="Roboto"/>
              </a:rPr>
              <a:t>two muons → removed by the exactly-one-muon veto.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Single top:  </a:t>
            </a:r>
            <a:r>
              <a:rPr sz="1550">
                <a:solidFill>
                  <a:srgbClr val="F3F0DF"/>
                </a:solidFill>
                <a:latin typeface="Roboto"/>
              </a:rPr>
              <a:t>real top + b, nearly identical signature → partly reduced by ≥4 jets.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Dileptonic tt̅:  </a:t>
            </a:r>
            <a:r>
              <a:rPr sz="1550">
                <a:solidFill>
                  <a:srgbClr val="F3F0DF"/>
                </a:solidFill>
                <a:latin typeface="Roboto"/>
              </a:rPr>
              <a:t>two leptons, only 2 b-jets → one-muon veto + ≥4 jets.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Survivors:  </a:t>
            </a:r>
            <a:r>
              <a:rPr sz="1550">
                <a:solidFill>
                  <a:srgbClr val="F3F0DF"/>
                </a:solidFill>
                <a:latin typeface="Roboto"/>
              </a:rPr>
              <a:t>a smooth background (physics + combinatorial) absorbed by the polynomial fit.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The Combinatorial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500000"/>
            <a:ext cx="525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Only one jet-to-parton assignment is correct — the rest pile up as background.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No truth:  </a:t>
            </a:r>
            <a:r>
              <a:rPr sz="1550">
                <a:solidFill>
                  <a:srgbClr val="F3F0DF"/>
                </a:solidFill>
                <a:latin typeface="Roboto"/>
              </a:rPr>
              <a:t>GenPart is absent in this real-data file, so we can't pick the right pairing.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Grey:  </a:t>
            </a:r>
            <a:r>
              <a:rPr sz="1550">
                <a:solidFill>
                  <a:srgbClr val="F3F0DF"/>
                </a:solidFill>
                <a:latin typeface="Roboto"/>
              </a:rPr>
              <a:t>every light-jet pair (mostly wrong assignments).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Blue:  </a:t>
            </a:r>
            <a:r>
              <a:rPr sz="1550">
                <a:solidFill>
                  <a:srgbClr val="F3F0DF"/>
                </a:solidFill>
                <a:latin typeface="Roboto"/>
              </a:rPr>
              <a:t>the single pair we keep per event — this is what makes a peak appear.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Honest scope:  </a:t>
            </a:r>
            <a:r>
              <a:rPr sz="1550">
                <a:solidFill>
                  <a:srgbClr val="F3F0DF"/>
                </a:solidFill>
                <a:latin typeface="Roboto"/>
              </a:rPr>
              <a:t>a signal/combinatorial fraction needs MC truth (absent), so we keep it qualitative.</a:t>
            </a:r>
          </a:p>
        </p:txBody>
      </p:sp>
      <p:pic>
        <p:nvPicPr>
          <p:cNvPr id="6" name="Picture 5" descr="combinato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000" y="1700000"/>
            <a:ext cx="5650000" cy="4202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A Genuine, Unbiased W Mass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500000"/>
            <a:ext cx="525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The top's argmin|mjj−80.4| is circular — it cannot measure mW.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Unbiased pick:  </a:t>
            </a:r>
            <a:r>
              <a:rPr sz="1550">
                <a:solidFill>
                  <a:srgbClr val="F3F0DF"/>
                </a:solidFill>
                <a:latin typeface="Roboto"/>
              </a:rPr>
              <a:t>the highest combined-pT light-jet pair (kinematic, blind to the mass).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Fit:  </a:t>
            </a:r>
            <a:r>
              <a:rPr sz="1550">
                <a:solidFill>
                  <a:srgbClr val="F3F0DF"/>
                </a:solidFill>
                <a:latin typeface="Roboto"/>
              </a:rPr>
              <a:t>mW = 81.8 ± 2.1 GeV (stat), σ = 13.9 GeV, χ²/ndf = 1.01.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Consistent with PDG  </a:t>
            </a:r>
            <a:r>
              <a:rPr sz="1550">
                <a:solidFill>
                  <a:srgbClr val="F3F0DF"/>
                </a:solidFill>
                <a:latin typeface="Roboto"/>
              </a:rPr>
              <a:t>(80.4 GeV) within the large jet-resolution width (0.7σ).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Implication:  </a:t>
            </a:r>
            <a:r>
              <a:rPr sz="1550">
                <a:solidFill>
                  <a:srgbClr val="F3F0DF"/>
                </a:solidFill>
                <a:latin typeface="Roboto"/>
              </a:rPr>
              <a:t>the LIGHT-jet scale is ~right → the top deficit must live in the b-jet.</a:t>
            </a:r>
          </a:p>
        </p:txBody>
      </p:sp>
      <p:pic>
        <p:nvPicPr>
          <p:cNvPr id="6" name="Picture 5" descr="w_unbiased_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000" y="1700000"/>
            <a:ext cx="5650000" cy="42029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Pinning Down the Deficit: the b-Jet Energy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500000"/>
            <a:ext cx="525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The W is ~right but the top is 9 GeV low — so the b-jet is under-measured.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Why:  </a:t>
            </a:r>
            <a:r>
              <a:rPr sz="1550">
                <a:solidFill>
                  <a:srgbClr val="F3F0DF"/>
                </a:solidFill>
                <a:latin typeface="Roboto"/>
              </a:rPr>
              <a:t>b-jets lose energy to semileptonic neutrinos — median Jet_bRegCorr = 1.08 (~8% low).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Test:  </a:t>
            </a:r>
            <a:r>
              <a:rPr sz="1550">
                <a:solidFill>
                  <a:srgbClr val="F3F0DF"/>
                </a:solidFill>
                <a:latin typeface="Roboto"/>
              </a:rPr>
              <a:t>apply the per-jet b-regression to the b-jet and refit — no MC truth needed.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Result:  </a:t>
            </a:r>
            <a:r>
              <a:rPr sz="1550">
                <a:solidFill>
                  <a:srgbClr val="F3F0DF"/>
                </a:solidFill>
                <a:latin typeface="Roboto"/>
              </a:rPr>
              <a:t>top 163.3 → 170.7 ± 1.4 GeV (χ²/ndf = 0.87), within ~2 GeV of the PDG.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Conclusion:  </a:t>
            </a:r>
            <a:r>
              <a:rPr sz="1550">
                <a:solidFill>
                  <a:srgbClr val="F3F0DF"/>
                </a:solidFill>
                <a:latin typeface="Roboto"/>
              </a:rPr>
              <a:t>the deficit is a JET ENERGY SCALE effect, concentrated in the b-jet.</a:t>
            </a:r>
          </a:p>
        </p:txBody>
      </p:sp>
      <p:pic>
        <p:nvPicPr>
          <p:cNvPr id="6" name="Picture 5" descr="top_bregcorr_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000" y="1700000"/>
            <a:ext cx="5650000" cy="4202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The Leptonic Side: Missing Energy (MET)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480000"/>
            <a:ext cx="1105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The neutrino escapes as MET — the hadronic mass formula stays correct.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Transverse mass:  </a:t>
            </a:r>
            <a:r>
              <a:rPr sz="1550">
                <a:solidFill>
                  <a:srgbClr val="F3F0DF"/>
                </a:solidFill>
                <a:latin typeface="Roboto"/>
              </a:rPr>
              <a:t>mT = √(2 pT^μ E_T^miss (1−cosΔφ)) — Jacobian edge near mW (left).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Neutrino p_z:  </a:t>
            </a:r>
            <a:r>
              <a:rPr sz="1550">
                <a:solidFill>
                  <a:srgbClr val="F3F0DF"/>
                </a:solidFill>
                <a:latin typeface="Roboto"/>
              </a:rPr>
              <a:t>from the W-mass quadratic; a real solution exists in 85% of events.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Full leptonic top  </a:t>
            </a:r>
            <a:r>
              <a:rPr sz="1550">
                <a:solidFill>
                  <a:srgbClr val="F3F0DF"/>
                </a:solidFill>
                <a:latin typeface="Roboto"/>
              </a:rPr>
              <a:t>(μ ν b) reconstructed as an illustrative cross-check (right).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Key point:  </a:t>
            </a:r>
            <a:r>
              <a:rPr sz="1550">
                <a:solidFill>
                  <a:srgbClr val="F3F0DF"/>
                </a:solidFill>
                <a:latin typeface="Roboto"/>
              </a:rPr>
              <a:t>only the leptonic side misses a four-vector — the formula is not wrong.</a:t>
            </a:r>
          </a:p>
        </p:txBody>
      </p:sp>
      <p:pic>
        <p:nvPicPr>
          <p:cNvPr id="6" name="Picture 5" descr="leptonic_m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000" y="3450000"/>
            <a:ext cx="9000000" cy="324600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029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erriweather"/>
              </a:rPr>
              <a:t>Systematic Uncertainties — JES is the Headline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90625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1500" y="1480000"/>
            <a:ext cx="1105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Roboto"/>
              </a:rPr>
              <a:t>The ± quoted is statistical only (~1–2 GeV); systematics dominate.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Jet Energy Scale (JES):  </a:t>
            </a:r>
            <a:r>
              <a:rPr sz="1550">
                <a:solidFill>
                  <a:srgbClr val="F3F0DF"/>
                </a:solidFill>
                <a:latin typeface="Roboto"/>
              </a:rPr>
              <a:t>the headline — demonstrated: b-regression recovers +7 GeV → 170.7 GeV.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Jet resolution (JER):  </a:t>
            </a:r>
            <a:r>
              <a:rPr sz="1550">
                <a:solidFill>
                  <a:srgbClr val="F3F0DF"/>
                </a:solidFill>
                <a:latin typeface="Roboto"/>
              </a:rPr>
              <a:t>~11%/b-jet → sets the σ≈29 GeV peak width (top Γ is only 1.4 GeV).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Combinatorics &amp; W-window bias:  </a:t>
            </a:r>
            <a:r>
              <a:rPr sz="1550">
                <a:solidFill>
                  <a:srgbClr val="F3F0DF"/>
                </a:solidFill>
                <a:latin typeface="Roboto"/>
              </a:rPr>
              <a:t>wrong pairings + the 65–95 GeV cut (170→163 GeV) — method systematics.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b-tag eff./mis-tag  </a:t>
            </a:r>
            <a:r>
              <a:rPr sz="1550">
                <a:solidFill>
                  <a:srgbClr val="F3F0DF"/>
                </a:solidFill>
                <a:latin typeface="Roboto"/>
              </a:rPr>
              <a:t>and residual single-top / W+jets absorbed in the fit (no MC subtraction).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1CAA0"/>
                </a:solidFill>
                <a:latin typeface="Roboto"/>
              </a:rPr>
              <a:t>•  </a:t>
            </a:r>
            <a:r>
              <a:rPr sz="1550" b="1">
                <a:solidFill>
                  <a:srgbClr val="FFFFFF"/>
                </a:solidFill>
                <a:latin typeface="Roboto"/>
              </a:rPr>
              <a:t>Bottom line:  </a:t>
            </a:r>
            <a:r>
              <a:rPr sz="1550">
                <a:solidFill>
                  <a:srgbClr val="F3F0DF"/>
                </a:solidFill>
                <a:latin typeface="Roboto"/>
              </a:rPr>
              <a:t>added in quadrature these dwarf the stat error — a scale fix, not an MC truth-match.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