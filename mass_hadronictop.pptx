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68" r:id="rId27"/>
    <p:sldId id="258" r:id="rId9"/>
    <p:sldId id="259" r:id="rId10"/>
    <p:sldId id="269" r:id="rId28"/>
    <p:sldId id="270" r:id="rId29"/>
    <p:sldId id="260" r:id="rId11"/>
    <p:sldId id="271" r:id="rId30"/>
    <p:sldId id="261" r:id="rId12"/>
    <p:sldId id="272" r:id="rId31"/>
    <p:sldId id="262" r:id="rId13"/>
    <p:sldId id="263" r:id="rId14"/>
    <p:sldId id="264" r:id="rId15"/>
    <p:sldId id="273" r:id="rId32"/>
    <p:sldId id="274" r:id="rId33"/>
    <p:sldId id="265" r:id="rId16"/>
    <p:sldId id="275" r:id="rId34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AE2472-D999-4382-AA12-8A4666BCE0D2}">
  <a:tblStyle styleId="{B7AE2472-D999-4382-AA12-8A4666BCE0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7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Relationship Id="rId23" Type="http://schemas.openxmlformats.org/officeDocument/2006/relationships/font" Target="fonts/Merriweather-regular.fntdata"/><Relationship Id="rId24" Type="http://schemas.openxmlformats.org/officeDocument/2006/relationships/font" Target="fonts/Merriweather-bold.fntdata"/><Relationship Id="rId25" Type="http://schemas.openxmlformats.org/officeDocument/2006/relationships/font" Target="fonts/Merriweather-italic.fntdata"/><Relationship Id="rId26" Type="http://schemas.openxmlformats.org/officeDocument/2006/relationships/font" Target="fonts/Merriweather-boldItalic.fntdata"/><Relationship Id="rId27" Type="http://schemas.openxmlformats.org/officeDocument/2006/relationships/slide" Target="slides/slide3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9.xml"/><Relationship Id="rId31" Type="http://schemas.openxmlformats.org/officeDocument/2006/relationships/slide" Target="slides/slide11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975419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668809"/>
            <a:ext cx="1160145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Hadronic Top Quark Mass Reconstruction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859559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Using CMS OpenData &amp; NanoAOD Framework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76250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Geraldine Lomeli Ponce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45589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May 22,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2740074"/>
            <a:ext cx="6962775" cy="2301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0" y="3694360"/>
            <a:ext cx="6562725" cy="95681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Top Quark Decay Topology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1676995"/>
            <a:ext cx="38904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Single Lepton Channel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105620"/>
            <a:ext cx="3705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We analyze the $t\bar{t}$ pair production where one top decays hadronically: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857750" y="3149649"/>
            <a:ext cx="6562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Mass Reconstruction Target: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332160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320653"/>
            <a:ext cx="3324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Top Quark: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Decays nearly 100% to a $W$ boson and a $b$ quark.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6300" y="41348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4133850"/>
            <a:ext cx="3324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W Boson: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Decays to two light quarks ($u, d, s, c$).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76300" y="494799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4947046"/>
            <a:ext cx="3324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The Signal: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1 Isolated Muon + Neutrino + 4 Jets (at least one being a b-jet).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8250" y="3884860"/>
            <a:ext cx="6181725" cy="575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The Semileptonic tt̅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450000"/>
            <a:ext cx="1105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Two gluons fuse to a top–antitop pair; each top decays t → b W.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Hadronic top:  </a:t>
            </a:r>
            <a:r>
              <a:rPr sz="1550">
                <a:solidFill>
                  <a:srgbClr val="F3F0DF"/>
                </a:solidFill>
                <a:latin typeface="Roboto"/>
              </a:rPr>
              <a:t>W → q q̄′  →  the three jets we fit as m(bjj).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Leptonic top:  </a:t>
            </a:r>
            <a:r>
              <a:rPr sz="1550">
                <a:solidFill>
                  <a:srgbClr val="F3F0DF"/>
                </a:solidFill>
                <a:latin typeface="Roboto"/>
              </a:rPr>
              <a:t>W → μ ν  →  the isolated muon + missing energy (MET).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Why one muon:  </a:t>
            </a:r>
            <a:r>
              <a:rPr sz="1550">
                <a:solidFill>
                  <a:srgbClr val="F3F0DF"/>
                </a:solidFill>
                <a:latin typeface="Roboto"/>
              </a:rPr>
              <a:t>it tags and triggers the event; the hadronic side gives the mass.</a:t>
            </a:r>
          </a:p>
        </p:txBody>
      </p:sp>
      <p:pic>
        <p:nvPicPr>
          <p:cNvPr id="6" name="Picture 5" descr="feynman_ttbar_semilept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000" y="2980000"/>
            <a:ext cx="5100000" cy="37393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26109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&amp; Computational Tools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74439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Source: CMS OpenData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286500" y="2707034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 Science Stack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286500" y="4354859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We use </a:t>
            </a:r>
            <a:r>
              <a:rPr b="0" i="1" lang="en-US" sz="13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Awkward Arrays</a:t>
            </a:r>
            <a:r>
              <a:rPr b="0" i="0" lang="en-US" sz="13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to handle the ragged data structure of particle collisions efficiently in Python.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76300" y="311681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52500" y="311586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Format: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NanoAOD (Lightweight ROOT files).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76300" y="359485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359390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File: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0107961B-4308-F845-8F96-E14622BBA484.root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407289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52500" y="440628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Size: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1.8 GB / ~2.38 M events (1 of 82 files; full sample 130.4 GiB)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76300" y="455092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52500" y="4713573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Era: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Run2016H-UL2016 (13 TeV).</a:t>
            </a:r>
            <a:endParaRPr/>
          </a:p>
        </p:txBody>
      </p:sp>
      <p:sp>
        <p:nvSpPr>
          <p:cNvPr id="128" name="DatasetMarker128"/>
          <p:cNvSpPr txBox="1"/>
          <p:nvPr/>
        </p:nvSpPr>
        <p:spPr>
          <a:xfrm>
            <a:off x="876300" y="507492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29" name="DatasetText129"/>
          <p:cNvSpPr txBox="1"/>
          <p:nvPr/>
        </p:nvSpPr>
        <p:spPr>
          <a:xfrm>
            <a:off x="952500" y="5230368"/>
            <a:ext cx="1051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Dataset:</a:t>
            </a:r>
            <a:r>
              <a:rPr b="0" i="0" lang="en-US" sz="15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/SingleMuon/Run2016H-UL2016_MiniAODv2_NanoAODv9-v1/NANOAOD</a:t>
            </a:r>
            <a:endParaRPr/>
          </a:p>
        </p:txBody>
      </p:sp>
      <p:sp>
        <p:nvSpPr>
          <p:cNvPr id="130" name="DatasetMarker130"/>
          <p:cNvSpPr txBox="1"/>
          <p:nvPr/>
        </p:nvSpPr>
        <p:spPr>
          <a:xfrm>
            <a:off x="876300" y="555040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31" name="DatasetText131"/>
          <p:cNvSpPr txBox="1"/>
          <p:nvPr/>
        </p:nvSpPr>
        <p:spPr>
          <a:xfrm>
            <a:off x="952500" y="5705856"/>
            <a:ext cx="1051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Open Data:</a:t>
            </a:r>
            <a:r>
              <a:rPr b="0" i="0" lang="en-US" sz="15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record 30563  ·  DOI 10.7483/OPENDATA.CMS.4BUS.64MV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Selecting Candidate Events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40327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To reduce background from QCD and W+jets, we apply strict physics constraints: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2947987"/>
            <a:ext cx="11049000" cy="1905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16"/>
          <p:cNvGraphicFramePr/>
          <p:nvPr/>
        </p:nvGraphicFramePr>
        <p:xfrm>
          <a:off x="571500" y="29479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{B7AE2472-D999-4382-AA12-8A4666BCE0D2}</a:tableStyleId>
              </a:tblPr>
              <a:tblGrid>
                <a:gridCol w="1682350"/>
                <a:gridCol w="5014900"/>
                <a:gridCol w="4351725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Selection Criteria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Physics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$p_T &gt; 25$ GeV, $| \eta | &lt; 2.4$, Tight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Clean Leptonic Trigger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$p_T &gt; 30$ GeV, Count $\ge 4$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Capture Hadronic Decay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B-Tagging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DeepCSV Score $&gt; 0.6321$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Identify Top's heavy bottom-quark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6"/>
          <p:cNvSpPr txBox="1"/>
          <p:nvPr/>
        </p:nvSpPr>
        <p:spPr>
          <a:xfrm>
            <a:off x="571500" y="504348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Roboto"/>
                <a:ea typeface="Roboto"/>
                <a:cs typeface="Roboto"/>
                <a:sym typeface="Roboto"/>
              </a:rPr>
              <a:t>Efficiency:</a:t>
            </a:r>
            <a:r>
              <a:rPr b="0" i="0" lang="en-US" sz="1650" u="none" cap="none" strike="noStrike">
                <a:solidFill>
                  <a:srgbClr val="11CAA0"/>
                </a:solidFill>
                <a:latin typeface="Roboto"/>
                <a:ea typeface="Roboto"/>
                <a:cs typeface="Roboto"/>
                <a:sym typeface="Roboto"/>
              </a:rPr>
              <a:t> 78,652 events pass the initial $t\bar{t}$ topology mask.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Uncertainty on Each Measured Quantity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450000"/>
            <a:ext cx="1105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A reconstructed mass is only as good as the four-vectors that build it.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Muon pT:  </a:t>
            </a:r>
            <a:r>
              <a:rPr sz="1550">
                <a:solidFill>
                  <a:srgbClr val="F3F0DF"/>
                </a:solidFill>
                <a:latin typeface="Roboto"/>
              </a:rPr>
              <a:t>stored per muon (Muon_ptErr) — tiny, median ~1.4%.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MET:  </a:t>
            </a:r>
            <a:r>
              <a:rPr sz="1550">
                <a:solidFill>
                  <a:srgbClr val="F3F0DF"/>
                </a:solidFill>
                <a:latin typeface="Roboto"/>
              </a:rPr>
              <a:t>stored per event (MET_significance, MET_covXX/XY/YY).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Jet energy SCALE:  </a:t>
            </a:r>
            <a:r>
              <a:rPr sz="1550">
                <a:solidFill>
                  <a:srgbClr val="F3F0DF"/>
                </a:solidFill>
                <a:latin typeface="Roboto"/>
              </a:rPr>
              <a:t>NOT per-object — an external JES systematic (~2–3%).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Jet energy RESOLUTION:  </a:t>
            </a:r>
            <a:r>
              <a:rPr sz="1550">
                <a:solidFill>
                  <a:srgbClr val="F3F0DF"/>
                </a:solidFill>
                <a:latin typeface="Roboto"/>
              </a:rPr>
              <a:t>per jet (Jet_bRegRes) — ~11% for b-jets, ~8× the muon.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Consequence:  </a:t>
            </a:r>
            <a:r>
              <a:rPr sz="1550">
                <a:solidFill>
                  <a:srgbClr val="F3F0DF"/>
                </a:solidFill>
                <a:latin typeface="Roboto"/>
              </a:rPr>
              <a:t>the 3-jet top width is jet-dominated; uncorrected jets read low → mass low.</a:t>
            </a:r>
          </a:p>
        </p:txBody>
      </p:sp>
      <p:pic>
        <p:nvPicPr>
          <p:cNvPr id="6" name="Picture 5" descr="uncertain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0" y="3720000"/>
            <a:ext cx="10900000" cy="2927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Backgrounds, and How Each Cut Suppresses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480000"/>
            <a:ext cx="1105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No MC is available to subtract; we suppress backgrounds with the selection.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QCD multijet:  </a:t>
            </a:r>
            <a:r>
              <a:rPr sz="1550">
                <a:solidFill>
                  <a:srgbClr val="F3F0DF"/>
                </a:solidFill>
                <a:latin typeface="Roboto"/>
              </a:rPr>
              <a:t>fake isolated muon from heavy-flavour decay → killed by tight muon, pT&gt;25.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W+jets:  </a:t>
            </a:r>
            <a:r>
              <a:rPr sz="1550">
                <a:solidFill>
                  <a:srgbClr val="F3F0DF"/>
                </a:solidFill>
                <a:latin typeface="Roboto"/>
              </a:rPr>
              <a:t>real μν + jets → suppressed by requiring ≥4 jets AND a b-tag.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Z+jets (Drell–Yan):  </a:t>
            </a:r>
            <a:r>
              <a:rPr sz="1550">
                <a:solidFill>
                  <a:srgbClr val="F3F0DF"/>
                </a:solidFill>
                <a:latin typeface="Roboto"/>
              </a:rPr>
              <a:t>two muons → removed by the exactly-one-muon veto.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Single top:  </a:t>
            </a:r>
            <a:r>
              <a:rPr sz="1550">
                <a:solidFill>
                  <a:srgbClr val="F3F0DF"/>
                </a:solidFill>
                <a:latin typeface="Roboto"/>
              </a:rPr>
              <a:t>real top + b, nearly identical signature → partly reduced by ≥4 jets.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Dileptonic tt̅:  </a:t>
            </a:r>
            <a:r>
              <a:rPr sz="1550">
                <a:solidFill>
                  <a:srgbClr val="F3F0DF"/>
                </a:solidFill>
                <a:latin typeface="Roboto"/>
              </a:rPr>
              <a:t>two leptons, only 2 b-jets → one-muon veto + ≥4 jets.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Survivors:  </a:t>
            </a:r>
            <a:r>
              <a:rPr sz="1550">
                <a:solidFill>
                  <a:srgbClr val="F3F0DF"/>
                </a:solidFill>
                <a:latin typeface="Roboto"/>
              </a:rPr>
              <a:t>a smooth background (physics + combinatorial) absorbed by the polynomial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14712"/>
            <a:ext cx="533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Solving the Combinatorics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233779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Jet Assignments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766417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In a 4-jet event, how do we know which jet is which?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76300" y="331208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3311128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We utilize </a:t>
            </a: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DeepCSV b-tagging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to separate "heavy" jets (from Top) from "light" jets (from W).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76300" y="412527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4124325"/>
            <a:ext cx="4953000" cy="689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We split the filtered jets into two groups: b_jets and light_jets.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76300" y="495752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495657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Requirement: At least 1 b-jet and 2 light jets per event.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The Combinatorial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500000"/>
            <a:ext cx="525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Only one jet-to-parton assignment is correct — the rest pile up as background.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No truth:  </a:t>
            </a:r>
            <a:r>
              <a:rPr sz="1550">
                <a:solidFill>
                  <a:srgbClr val="F3F0DF"/>
                </a:solidFill>
                <a:latin typeface="Roboto"/>
              </a:rPr>
              <a:t>GenPart is absent in this real-data file, so we can't pick the right pairing.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Grey:  </a:t>
            </a:r>
            <a:r>
              <a:rPr sz="1550">
                <a:solidFill>
                  <a:srgbClr val="F3F0DF"/>
                </a:solidFill>
                <a:latin typeface="Roboto"/>
              </a:rPr>
              <a:t>every light-jet pair (mostly wrong assignments).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Blue:  </a:t>
            </a:r>
            <a:r>
              <a:rPr sz="1550">
                <a:solidFill>
                  <a:srgbClr val="F3F0DF"/>
                </a:solidFill>
                <a:latin typeface="Roboto"/>
              </a:rPr>
              <a:t>the single pair we keep per event — this is what makes a peak appear.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Honest scope:  </a:t>
            </a:r>
            <a:r>
              <a:rPr sz="1550">
                <a:solidFill>
                  <a:srgbClr val="F3F0DF"/>
                </a:solidFill>
                <a:latin typeface="Roboto"/>
              </a:rPr>
              <a:t>a signal/combinatorial fraction needs MC truth (absent), so we keep it qualitative.</a:t>
            </a:r>
          </a:p>
        </p:txBody>
      </p:sp>
      <p:pic>
        <p:nvPicPr>
          <p:cNvPr id="6" name="Picture 5" descr="combinato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700000"/>
            <a:ext cx="5650000" cy="420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5201"/>
            <a:ext cx="11049000" cy="1699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54723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Reconstructing the W-Boson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182999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The W-boson is the intermediate step. We iterate through all possible light jet pairs: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5616773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This significantly reduces combinatorial noise before calculating the final top mass.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2974776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Algorithm: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argmin($| m_{j_1 j_2} - 80.4 $ GeV $|$)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3519487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We pick the pair of light jets whose invariant mass is closest to the physical W boson mass.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A Genuine, Unbiased W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500000"/>
            <a:ext cx="525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The top's argmin|mjj−80.4| is circular — it cannot measure mW.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Unbiased pick:  </a:t>
            </a:r>
            <a:r>
              <a:rPr sz="1550">
                <a:solidFill>
                  <a:srgbClr val="F3F0DF"/>
                </a:solidFill>
                <a:latin typeface="Roboto"/>
              </a:rPr>
              <a:t>the highest combined-pT light-jet pair (kinematic, blind to the mass).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Fit:  </a:t>
            </a:r>
            <a:r>
              <a:rPr sz="1550">
                <a:solidFill>
                  <a:srgbClr val="F3F0DF"/>
                </a:solidFill>
                <a:latin typeface="Roboto"/>
              </a:rPr>
              <a:t>mW = 81.8 ± 2.1 GeV (stat), σ = 13.9 GeV, χ²/ndf = 1.01.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Consistent with PDG  </a:t>
            </a:r>
            <a:r>
              <a:rPr sz="1550">
                <a:solidFill>
                  <a:srgbClr val="F3F0DF"/>
                </a:solidFill>
                <a:latin typeface="Roboto"/>
              </a:rPr>
              <a:t>(80.4 GeV) within the large jet-resolution width (0.7σ).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Implication:  </a:t>
            </a:r>
            <a:r>
              <a:rPr sz="1550">
                <a:solidFill>
                  <a:srgbClr val="F3F0DF"/>
                </a:solidFill>
                <a:latin typeface="Roboto"/>
              </a:rPr>
              <a:t>the LIGHT-jet scale is ~right → the top deficit must live in the b-jet.</a:t>
            </a:r>
          </a:p>
        </p:txBody>
      </p:sp>
      <p:pic>
        <p:nvPicPr>
          <p:cNvPr id="6" name="Picture 5" descr="w_unbiased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700000"/>
            <a:ext cx="5650000" cy="4202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Top Mass: Initial Reconstruction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286500" y="234731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Observation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286500" y="2775942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The first attempt combines the W-candidate with the leading b-jet.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591300" y="365676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667500" y="3655814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Calculated Mass: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169.96 GeV.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591300" y="41348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667500" y="413385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Issue: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High combinatorial background (shaded area).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591300" y="461283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67500" y="461188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Constraint: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The model includes a quadratic background fit + Gaussian signal.</a:t>
            </a:r>
            <a:endParaRPr/>
          </a:p>
        </p:txBody>
      </p:sp>
      <p:pic>
        <p:nvPicPr>
          <p:cNvPr id="183" name="Google Shape;183;p19" title="had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875" y="1769600"/>
            <a:ext cx="5803650" cy="43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319313"/>
            <a:ext cx="533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20355"/>
            <a:ext cx="5334000" cy="13601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Refining with W-Mass Constraint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2011858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Signal Cleaning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440483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To produce a higher-purity sample, we apply a "W-Mass Window" cut: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4890045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This ensures we only reconstruct tops from events where the algorithm successfully found a realistic W-boson.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71525" y="3787080"/>
            <a:ext cx="4933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$65 &lt; M_W &lt; 95$ GeV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Final Reconstruction Value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6286500" y="2815828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Improved Signal Fit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591300" y="318825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667500" y="318730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Calculated Mass: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163.33 GeV.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591300" y="366629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67500" y="3665339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Uncertainty: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± 1.50 GeV (Stat).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591300" y="414432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67500" y="414337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Result: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Applying the W-constraint shifted the peak towards the left but sharpened the Gaussian signal.</a:t>
            </a:r>
            <a:endParaRPr/>
          </a:p>
        </p:txBody>
      </p:sp>
      <p:pic>
        <p:nvPicPr>
          <p:cNvPr id="211" name="Google Shape;211;p21" title="had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75" y="1799450"/>
            <a:ext cx="5533601" cy="41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Pinning Down the Deficit: the b-Jet Energy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500000"/>
            <a:ext cx="525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The W is ~right but the top is 9 GeV low — so the b-jet is under-measured.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Why:  </a:t>
            </a:r>
            <a:r>
              <a:rPr sz="1550">
                <a:solidFill>
                  <a:srgbClr val="F3F0DF"/>
                </a:solidFill>
                <a:latin typeface="Roboto"/>
              </a:rPr>
              <a:t>b-jets lose energy to semileptonic neutrinos — median Jet_bRegCorr = 1.08 (~8% low).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Test:  </a:t>
            </a:r>
            <a:r>
              <a:rPr sz="1550">
                <a:solidFill>
                  <a:srgbClr val="F3F0DF"/>
                </a:solidFill>
                <a:latin typeface="Roboto"/>
              </a:rPr>
              <a:t>apply the per-jet b-regression to the b-jet and refit — no MC truth needed.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Result:  </a:t>
            </a:r>
            <a:r>
              <a:rPr sz="1550">
                <a:solidFill>
                  <a:srgbClr val="F3F0DF"/>
                </a:solidFill>
                <a:latin typeface="Roboto"/>
              </a:rPr>
              <a:t>top 163.3 → 170.7 ± 1.4 GeV (χ²/ndf = 0.87), within ~2 GeV of the PDG.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Conclusion:  </a:t>
            </a:r>
            <a:r>
              <a:rPr sz="1550">
                <a:solidFill>
                  <a:srgbClr val="F3F0DF"/>
                </a:solidFill>
                <a:latin typeface="Roboto"/>
              </a:rPr>
              <a:t>the deficit is a JET ENERGY SCALE effect, concentrated in the b-jet.</a:t>
            </a:r>
          </a:p>
        </p:txBody>
      </p:sp>
      <p:pic>
        <p:nvPicPr>
          <p:cNvPr id="6" name="Picture 5" descr="top_bregcorr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700000"/>
            <a:ext cx="5650000" cy="4202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The Leptonic Side: Missing Energy (MET)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480000"/>
            <a:ext cx="1105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The neutrino escapes as MET — the hadronic mass formula stays correct.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Transverse mass:  </a:t>
            </a:r>
            <a:r>
              <a:rPr sz="1550">
                <a:solidFill>
                  <a:srgbClr val="F3F0DF"/>
                </a:solidFill>
                <a:latin typeface="Roboto"/>
              </a:rPr>
              <a:t>mT = √(2 pT^μ E_T^miss (1−cosΔφ)) — Jacobian edge near mW (left).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Neutrino p_z:  </a:t>
            </a:r>
            <a:r>
              <a:rPr sz="1550">
                <a:solidFill>
                  <a:srgbClr val="F3F0DF"/>
                </a:solidFill>
                <a:latin typeface="Roboto"/>
              </a:rPr>
              <a:t>from the W-mass quadratic; a real solution exists in 85% of events.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Full leptonic top  </a:t>
            </a:r>
            <a:r>
              <a:rPr sz="1550">
                <a:solidFill>
                  <a:srgbClr val="F3F0DF"/>
                </a:solidFill>
                <a:latin typeface="Roboto"/>
              </a:rPr>
              <a:t>(μ ν b) reconstructed as an illustrative cross-check (right).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Key point:  </a:t>
            </a:r>
            <a:r>
              <a:rPr sz="1550">
                <a:solidFill>
                  <a:srgbClr val="F3F0DF"/>
                </a:solidFill>
                <a:latin typeface="Roboto"/>
              </a:rPr>
              <a:t>only the leptonic side misses a four-vector — the formula is not wrong.</a:t>
            </a:r>
          </a:p>
        </p:txBody>
      </p:sp>
      <p:pic>
        <p:nvPicPr>
          <p:cNvPr id="6" name="Picture 5" descr="leptonic_m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3450000"/>
            <a:ext cx="9000000" cy="32460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2401"/>
            <a:ext cx="5334000" cy="173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 &amp; Physics Analysis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771525" y="3222426"/>
            <a:ext cx="51806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Experimental vs. Theoretical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286500" y="248066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Why the discrepancy?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076325" y="359485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152525" y="3593901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My Result: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163.33 ± 1.50 GeV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1076325" y="407289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152525" y="4071937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PDG Value: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172.57 ± 0.29 GeV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591300" y="285309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667500" y="285214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Jet Energy Corrections (JEC):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Not applied in this simple NanoAOD script. Energy is underestimated.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591300" y="366629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667500" y="3665339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Background Contamination: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W+jets and single-top production still present.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591300" y="447948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667500" y="447853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Missing Neutrino: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Missing transverse energy (MET) not accounted for in this hadronic-only calculation.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erriweather"/>
              </a:rPr>
              <a:t>Systematic Uncertainties — JES is the Headline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480000"/>
            <a:ext cx="1105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The ± quoted is statistical only (~1–2 GeV); systematics dominate.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Jet Energy Scale (JES):  </a:t>
            </a:r>
            <a:r>
              <a:rPr sz="1550">
                <a:solidFill>
                  <a:srgbClr val="F3F0DF"/>
                </a:solidFill>
                <a:latin typeface="Roboto"/>
              </a:rPr>
              <a:t>the headline — demonstrated: b-regression recovers +7 GeV → 170.7 GeV.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Jet resolution (JER):  </a:t>
            </a:r>
            <a:r>
              <a:rPr sz="1550">
                <a:solidFill>
                  <a:srgbClr val="F3F0DF"/>
                </a:solidFill>
                <a:latin typeface="Roboto"/>
              </a:rPr>
              <a:t>~11%/b-jet → sets the σ≈29 GeV peak width (top Γ is only 1.4 GeV).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Combinatorics &amp; W-window bias:  </a:t>
            </a:r>
            <a:r>
              <a:rPr sz="1550">
                <a:solidFill>
                  <a:srgbClr val="F3F0DF"/>
                </a:solidFill>
                <a:latin typeface="Roboto"/>
              </a:rPr>
              <a:t>wrong pairings + the 65–95 GeV cut (170→163 GeV) — method systematics.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b-tag eff./mis-tag  </a:t>
            </a:r>
            <a:r>
              <a:rPr sz="1550">
                <a:solidFill>
                  <a:srgbClr val="F3F0DF"/>
                </a:solidFill>
                <a:latin typeface="Roboto"/>
              </a:rPr>
              <a:t>and residual single-top / W+jets absorbed in the fit (no MC subtraction).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1CAA0"/>
                </a:solidFill>
                <a:latin typeface="Roboto"/>
              </a:rPr>
              <a:t>•  </a:t>
            </a:r>
            <a:r>
              <a:rPr sz="1550" b="1">
                <a:solidFill>
                  <a:srgbClr val="FFFFFF"/>
                </a:solidFill>
                <a:latin typeface="Roboto"/>
              </a:rPr>
              <a:t>Bottom line:  </a:t>
            </a:r>
            <a:r>
              <a:rPr sz="1550">
                <a:solidFill>
                  <a:srgbClr val="F3F0DF"/>
                </a:solidFill>
                <a:latin typeface="Roboto"/>
              </a:rPr>
              <a:t>added in quadrature these dwarf the stat error — a scale fix, not an MC truth-match.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876300" y="276826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52500" y="27673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Successfully implemented an </a:t>
            </a: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event filtering pipeline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using Awkward Arrays and Vector.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76300" y="324629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52500" y="324534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Applied </a:t>
            </a: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ML-based b-tagging scores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to solve the hadronic jet assignment problem.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76300" y="372433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952500" y="372338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Determined that a </a:t>
            </a:r>
            <a:r>
              <a:rPr b="1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W-boson mass constraint</a:t>
            </a: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 significantly improves the Gaussian fit for the top quark signal.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76300" y="420237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952500" y="4201417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Future work would involve 4-momentum corrections (JEC) and cross-validation with the Monte Carlo simulation files.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4725" y="4010025"/>
            <a:ext cx="5162550" cy="74473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3385661" y="1893689"/>
            <a:ext cx="54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Thank you for your attention</a:t>
            </a:r>
            <a:endParaRPr b="1" sz="75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3514725" y="3293864"/>
            <a:ext cx="516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3514725" y="4419600"/>
            <a:ext cx="5162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Roboto"/>
                <a:ea typeface="Roboto"/>
                <a:cs typeface="Roboto"/>
                <a:sym typeface="Roboto"/>
              </a:rPr>
              <a:t>Geraldine Lomeli Ponce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